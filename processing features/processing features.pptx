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88" r:id="rId2"/>
    <p:sldId id="395" r:id="rId3"/>
    <p:sldId id="398" r:id="rId4"/>
    <p:sldId id="399" r:id="rId5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572700351@qq.com" initials="5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79CC"/>
    <a:srgbClr val="7A5FA3"/>
    <a:srgbClr val="FFEBB0"/>
    <a:srgbClr val="A90102"/>
    <a:srgbClr val="8BF05D"/>
    <a:srgbClr val="9ADEFB"/>
    <a:srgbClr val="E24745"/>
    <a:srgbClr val="CA3B72"/>
    <a:srgbClr val="A24D8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74" autoAdjust="0"/>
  </p:normalViewPr>
  <p:slideViewPr>
    <p:cSldViewPr snapToGrid="0">
      <p:cViewPr varScale="1">
        <p:scale>
          <a:sx n="145" d="100"/>
          <a:sy n="145" d="100"/>
        </p:scale>
        <p:origin x="872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48D39-7D84-4E68-BD3E-1623B4B4093A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8AAD3-FED4-4B6B-B58F-4A40469F9F9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88AAD3-FED4-4B6B-B58F-4A40469F9F9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78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0" y="568171"/>
            <a:ext cx="12192000" cy="0"/>
          </a:xfrm>
          <a:prstGeom prst="line">
            <a:avLst/>
          </a:prstGeom>
          <a:ln w="73025">
            <a:gradFill flip="none" rotWithShape="1">
              <a:gsLst>
                <a:gs pos="1000">
                  <a:schemeClr val="accent1">
                    <a:lumMod val="5000"/>
                    <a:lumOff val="95000"/>
                  </a:schemeClr>
                </a:gs>
                <a:gs pos="33000">
                  <a:schemeClr val="accent1">
                    <a:lumMod val="45000"/>
                    <a:lumOff val="55000"/>
                  </a:schemeClr>
                </a:gs>
                <a:gs pos="53000">
                  <a:schemeClr val="accent1">
                    <a:lumMod val="45000"/>
                    <a:lumOff val="55000"/>
                  </a:schemeClr>
                </a:gs>
                <a:gs pos="94000">
                  <a:schemeClr val="accent1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12992" y="46431"/>
            <a:ext cx="2979008" cy="4296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 flipH="1">
            <a:off x="0" y="568171"/>
            <a:ext cx="12192000" cy="0"/>
          </a:xfrm>
          <a:prstGeom prst="line">
            <a:avLst/>
          </a:prstGeom>
          <a:ln w="73025">
            <a:gradFill flip="none" rotWithShape="1">
              <a:gsLst>
                <a:gs pos="1000">
                  <a:schemeClr val="accent1">
                    <a:lumMod val="5000"/>
                    <a:lumOff val="95000"/>
                  </a:schemeClr>
                </a:gs>
                <a:gs pos="33000">
                  <a:schemeClr val="accent1">
                    <a:lumMod val="45000"/>
                    <a:lumOff val="55000"/>
                  </a:schemeClr>
                </a:gs>
                <a:gs pos="53000">
                  <a:schemeClr val="accent1">
                    <a:lumMod val="45000"/>
                    <a:lumOff val="55000"/>
                  </a:schemeClr>
                </a:gs>
                <a:gs pos="94000">
                  <a:schemeClr val="accent1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12992" y="46431"/>
            <a:ext cx="2979008" cy="4296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9F25F-575A-458F-B67E-E94358BB39C7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90296-9167-41C5-ADE4-134423BE58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245995" y="2071370"/>
          <a:ext cx="7033260" cy="2273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6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4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ructural </a:t>
                      </a: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zh-CN" altLang="en-US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escriptors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yellow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Electronic </a:t>
                      </a:r>
                      <a:r>
                        <a:rPr lang="en-US" altLang="zh-CN" sz="2400" b="1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zh-CN" altLang="en-US" sz="2400" b="1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escriptors</a:t>
                      </a:r>
                      <a:endParaRPr lang="zh-CN" altLang="en-US" sz="2400" b="1">
                        <a:solidFill>
                          <a:srgbClr val="FFC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green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Topological </a:t>
                      </a:r>
                      <a:r>
                        <a:rPr lang="en-US" altLang="zh-CN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zh-CN" altLang="en-US" sz="2400" b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escriptors</a:t>
                      </a:r>
                      <a:endParaRPr lang="zh-CN" altLang="en-US" sz="2400" b="1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blue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Hybrid </a:t>
                      </a:r>
                      <a:r>
                        <a:rPr lang="en-US" altLang="zh-CN" sz="24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</a:t>
                      </a:r>
                      <a:r>
                        <a:rPr lang="zh-CN" altLang="en-US" sz="24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escriptors</a:t>
                      </a:r>
                      <a:endParaRPr lang="zh-CN" altLang="en-US" sz="2400" b="1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171450" y="692785"/>
          <a:ext cx="11835765" cy="4521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2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69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118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</a:rPr>
                        <a:t>Comprehension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CatBoost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ExtraTrees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KNeighborsDist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Light GBM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FastAI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 Torch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RandomForest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Weighted Ensemble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XGBoost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n10FRing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ATS5Z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ATS4Z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ATS6Z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JGI2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ATS5d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ATS4Z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Xpc-4d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ZMIC4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JGI2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_</a:t>
                      </a:r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ATS7Z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_</a:t>
                      </a:r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 AbsEState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ATS8Z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JGI6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ATS5d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SpDiam_A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ATS8dv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Xc-6d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 AbsEState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SpMAD_A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ZMIC4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ZMIC4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Xc-4d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SpDiam_A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VE1_A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ZMIC4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Max AbsEState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C1SP3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ABCGG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Petitjean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MWC10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EState_VSA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JGI6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VE1_A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NssssC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GGI8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ATSC5d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 EState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JGI6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EState_VSA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338830" y="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Elongation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171450" y="668655"/>
          <a:ext cx="11835765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8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25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sym typeface="+mn-ea"/>
                        </a:rPr>
                        <a:t>Comprehension</a:t>
                      </a:r>
                      <a:endParaRPr lang="zh-CN" altLang="en-US" sz="1400" b="1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CatBoost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ExtraTrees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KNeighborsDist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Light GBM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FastAI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 Torch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RandomForest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Weighted Ensemble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XGBoost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ATSC0Z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RotRatio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AETA_beta_ns_d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ATSC7Z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fr_NH1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AETA_beta_ns_d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AATSC1Z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AATSC1Z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nFaH Ring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ATSC0dv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AETA_beta_ns_d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RotRatio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SssNH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RotRatio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nFa Ring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SlogP_VSA2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SssNH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SlogP_VSA2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fr_Ar_N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nFaRing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AATSC1Z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SlogP_VSA2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nFaH Ring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SssNH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AXp-1d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CIC5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fr_NH1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SlogP_VSA11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EState_VSA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+mn-ea"/>
                        </a:rPr>
                        <a:t>EState_VSA</a:t>
                      </a:r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SaaNH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fr_NH1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SaaNH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qed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AATSC1Z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fr_NH1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AETA_beta_ns_d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SpDiam_A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 AbsEState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RotRatio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 AbsEState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AETA_beta_ns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SpDiam_A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SIC5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338830" y="-1206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Strength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/>
        </p:nvGraphicFramePr>
        <p:xfrm>
          <a:off x="171450" y="648335"/>
          <a:ext cx="11835765" cy="4518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9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8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592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325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042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atin typeface="Times New Roman" panose="02020603050405020304" pitchFamily="18" charset="0"/>
                          <a:sym typeface="+mn-ea"/>
                        </a:rPr>
                        <a:t>Comprehension</a:t>
                      </a:r>
                      <a:endParaRPr lang="zh-CN" altLang="en-US" sz="1400" b="1"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CatBoost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ExtraTrees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KNeighborsDist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Light GBM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FastAI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Neural Net  Torch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RandomForest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Weighted Ensemble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XGBoost</a:t>
                      </a:r>
                    </a:p>
                  </a:txBody>
                  <a:tcPr anchor="ctr"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ATS7Z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ATSC6dv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NHOH Count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ATS6Z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JGI5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BCUTd-1l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 Rotatable Bonds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EState_VSA10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ATS2Z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NHOH Count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EState_VSA10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BCUTd-1l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ATS3Z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EState_VSA10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ATSC6dv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BCUTd-1l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ATSC4dv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n6ARing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ATS4Z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EState_VSA10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C2SP3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ATS5Z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SlogP_VSA8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nAcid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C2SP3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SaaaC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ATS8Z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JGI9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SMR_VSA4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ATS1Z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JGI7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ATSC2dv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fMF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nAcid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SssO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ATS0Z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MIC1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fr_ether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ATSC4dv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nAcid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AATSC0Z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MIC3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IC1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ATS7dv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Num Rotatable Bonds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C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ATSC4dv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Chi4n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TopoShape Index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C3SP3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AMID_N</a:t>
                      </a:r>
                    </a:p>
                  </a:txBody>
                  <a:tcPr marL="6667" marR="6667" marT="6667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338830" y="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Modulus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k5ZTg0NGMwMTIwMmYwNjVlY2U1NTI2OWEwYzdjMj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86*393"/>
  <p:tag name="TABLE_ENDDRAG_RECT" val="33*67*886*39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651</Words>
  <Application>Microsoft Office PowerPoint</Application>
  <PresentationFormat>宽屏</PresentationFormat>
  <Paragraphs>342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572700351@qq.com</dc:creator>
  <cp:lastModifiedBy>伟龙 胡</cp:lastModifiedBy>
  <cp:revision>1782</cp:revision>
  <dcterms:created xsi:type="dcterms:W3CDTF">2022-06-24T02:15:00Z</dcterms:created>
  <dcterms:modified xsi:type="dcterms:W3CDTF">2026-02-02T02:11:59Z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36B86A719F5942178DBAB9242EB230E2_12</vt:lpwstr>
  </property>
  <property fmtid="{D5CDD505-2E9C-101B-9397-08002B2CF9AE}" pid="3" name="KSOProductBuildVer">
    <vt:lpwstr>2052-12.1.0.24034</vt:lpwstr>
  </property>
</Properties>
</file>