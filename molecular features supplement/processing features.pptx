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8"/>
  </p:handoutMasterIdLst>
  <p:sldIdLst>
    <p:sldId id="388" r:id="rId3"/>
    <p:sldId id="395" r:id="rId4"/>
    <p:sldId id="398" r:id="rId6"/>
    <p:sldId id="399" r:id="rId7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572700351@qq.com" initials="5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79CC"/>
    <a:srgbClr val="7A5FA3"/>
    <a:srgbClr val="FFEBB0"/>
    <a:srgbClr val="A90102"/>
    <a:srgbClr val="8BF05D"/>
    <a:srgbClr val="9ADEFB"/>
    <a:srgbClr val="E24745"/>
    <a:srgbClr val="CA3B72"/>
    <a:srgbClr val="A24D8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774" autoAdjust="0"/>
  </p:normalViewPr>
  <p:slideViewPr>
    <p:cSldViewPr snapToGrid="0">
      <p:cViewPr varScale="1">
        <p:scale>
          <a:sx n="145" d="100"/>
          <a:sy n="145" d="100"/>
        </p:scale>
        <p:origin x="872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2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E48D39-7D84-4E68-BD3E-1623B4B409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88AAD3-FED4-4B6B-B58F-4A40469F9F9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8AAD3-FED4-4B6B-B58F-4A40469F9F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0" y="568171"/>
            <a:ext cx="12192000" cy="0"/>
          </a:xfrm>
          <a:prstGeom prst="line">
            <a:avLst/>
          </a:prstGeom>
          <a:ln w="73025">
            <a:gradFill flip="none" rotWithShape="1">
              <a:gsLst>
                <a:gs pos="1000">
                  <a:schemeClr val="accent1">
                    <a:lumMod val="5000"/>
                    <a:lumOff val="95000"/>
                  </a:schemeClr>
                </a:gs>
                <a:gs pos="33000">
                  <a:schemeClr val="accent1">
                    <a:lumMod val="45000"/>
                    <a:lumOff val="55000"/>
                  </a:schemeClr>
                </a:gs>
                <a:gs pos="53000">
                  <a:schemeClr val="accent1">
                    <a:lumMod val="45000"/>
                    <a:lumOff val="55000"/>
                  </a:schemeClr>
                </a:gs>
                <a:gs pos="94000">
                  <a:schemeClr val="accent1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12992" y="46431"/>
            <a:ext cx="2979008" cy="4296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 flipH="1">
            <a:off x="0" y="568171"/>
            <a:ext cx="12192000" cy="0"/>
          </a:xfrm>
          <a:prstGeom prst="line">
            <a:avLst/>
          </a:prstGeom>
          <a:ln w="73025">
            <a:gradFill flip="none" rotWithShape="1">
              <a:gsLst>
                <a:gs pos="1000">
                  <a:schemeClr val="accent1">
                    <a:lumMod val="5000"/>
                    <a:lumOff val="95000"/>
                  </a:schemeClr>
                </a:gs>
                <a:gs pos="33000">
                  <a:schemeClr val="accent1">
                    <a:lumMod val="45000"/>
                    <a:lumOff val="55000"/>
                  </a:schemeClr>
                </a:gs>
                <a:gs pos="53000">
                  <a:schemeClr val="accent1">
                    <a:lumMod val="45000"/>
                    <a:lumOff val="55000"/>
                  </a:schemeClr>
                </a:gs>
                <a:gs pos="94000">
                  <a:schemeClr val="accent1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12992" y="46431"/>
            <a:ext cx="2979008" cy="4296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9F25F-575A-458F-B67E-E94358BB39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90296-9167-41C5-ADE4-134423BE58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245995" y="2071370"/>
          <a:ext cx="7033260" cy="2273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515"/>
                <a:gridCol w="4944745"/>
              </a:tblGrid>
              <a:tr h="6496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red</a:t>
                      </a:r>
                      <a:endParaRPr lang="en-US" altLang="zh-CN" sz="24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zh-CN" altLang="en-US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ructural </a:t>
                      </a: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zh-CN" altLang="en-US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escriptors</a:t>
                      </a:r>
                      <a:endParaRPr lang="zh-CN" altLang="en-US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yellow</a:t>
                      </a:r>
                      <a:endParaRPr lang="en-US" altLang="zh-CN" sz="2400" b="1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Electronic </a:t>
                      </a:r>
                      <a:r>
                        <a:rPr lang="en-US" altLang="zh-CN" sz="2400" b="1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</a:t>
                      </a:r>
                      <a:r>
                        <a:rPr lang="zh-CN" altLang="en-US" sz="2400" b="1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escriptors</a:t>
                      </a:r>
                      <a:endParaRPr lang="zh-CN" altLang="en-US" sz="2400" b="1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green</a:t>
                      </a:r>
                      <a:endParaRPr lang="en-US" altLang="zh-CN" sz="2400" b="1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Topological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escriptors</a:t>
                      </a:r>
                      <a:endParaRPr lang="zh-CN" altLang="en-US" sz="2400" b="1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4229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blue</a:t>
                      </a:r>
                      <a:endParaRPr lang="en-US" altLang="zh-CN" sz="2400" b="1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Hybrid </a:t>
                      </a:r>
                      <a:r>
                        <a:rPr lang="en-US" altLang="zh-CN" sz="24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</a:t>
                      </a:r>
                      <a:r>
                        <a:rPr lang="zh-CN" altLang="en-US" sz="24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escriptors</a:t>
                      </a:r>
                      <a:endParaRPr lang="zh-CN" altLang="en-US" sz="2400" b="1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/>
        </p:nvGraphicFramePr>
        <p:xfrm>
          <a:off x="171450" y="692785"/>
          <a:ext cx="11835765" cy="4521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585"/>
                <a:gridCol w="980440"/>
                <a:gridCol w="1132840"/>
                <a:gridCol w="1536065"/>
                <a:gridCol w="1102995"/>
                <a:gridCol w="1264920"/>
                <a:gridCol w="1316990"/>
                <a:gridCol w="1406525"/>
                <a:gridCol w="1120140"/>
                <a:gridCol w="1104265"/>
              </a:tblGrid>
              <a:tr h="7118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Comprehension</a:t>
                      </a:r>
                      <a:endParaRPr lang="en-US" altLang="zh-CN" sz="1400" b="1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CatBoost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ExtraTrees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KNeighborsDist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Light GBM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Neural Net FastAI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Neural Net  Torch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RandomForest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Weighted Ensemble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XGBoost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JGI8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n10FRing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ATS5Z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JGI8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ATSC7d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ATS4Z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SIC3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ATSC7d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JGI5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ATS6Z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ATSC7d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JGI2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JGI8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JGI8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SIC3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ATSC7d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JGI8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ATS5d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GGI8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ATS4Z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Xpc-4d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JGI8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ZMIC4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JGI2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JGI8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JGI8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CIC3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EState</a:t>
                      </a:r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_</a:t>
                      </a:r>
                      <a:r>
                        <a:rPr lang="en-US" altLang="zh-CN" sz="11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VSA</a:t>
                      </a:r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JGI8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ATS7Z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EState</a:t>
                      </a:r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_</a:t>
                      </a:r>
                      <a:r>
                        <a:rPr lang="en-US" altLang="zh-CN" sz="11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VSA</a:t>
                      </a:r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SIC4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SIC3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AMID_O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CIC3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Max AbsEState Index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ATSC7d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AMID_O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AETA_beta_s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ATS8Z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JGI6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SIC5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EState_VSA11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AETA_beta_s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ATSC7d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ATS5d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SIC4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SpDiam_A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ATS8dv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Xc-6d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Max AbsEState Index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TopoShape Index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JGI4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SpMAD_A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SIC4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AMID_O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ZMIC4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ZMIC4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fMF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Xc-4d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SpDiam_A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SIC3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SIC4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VE1_A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ZMIC4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ATSC2dv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AETA_beta_s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Max AbsEState Index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JGI4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C1SP3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ABCGG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Petitjean Index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CIC3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fMF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AETA_beta_s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AMID_X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GGI5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GGI8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MWC10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AMID_X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AETA_beta_s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JGI5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ATSC7d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GGI8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GGI5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EState_VSA</a:t>
                      </a:r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JGI6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VE1_A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EState_VSA11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NssssC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GGI8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CIC5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ATSC5d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 EState Index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JGI6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EState_VSA</a:t>
                      </a:r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338830" y="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Elongation</a:t>
            </a:r>
            <a:endParaRPr lang="en-US" sz="28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890" y="5543550"/>
            <a:ext cx="2567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AMID_O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808845" y="5543550"/>
            <a:ext cx="1867535" cy="922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/>
            <a:r>
              <a:rPr lang="en-US" altLang="zh-CN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EState_VSA1</a:t>
            </a:r>
            <a:endParaRPr lang="en-US" altLang="zh-CN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/>
            <a:r>
              <a:rPr lang="en-US" altLang="zh-CN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EState_VSA11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77025" y="5543550"/>
            <a:ext cx="25679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/>
            <a:r>
              <a:rPr lang="en-US" altLang="zh-CN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GGI8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r>
              <a:rPr lang="en-US" altLang="zh-CN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AbsEState Index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/>
        </p:nvGraphicFramePr>
        <p:xfrm>
          <a:off x="171450" y="668655"/>
          <a:ext cx="11835765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585"/>
                <a:gridCol w="923925"/>
                <a:gridCol w="1149350"/>
                <a:gridCol w="1447165"/>
                <a:gridCol w="1099820"/>
                <a:gridCol w="1268095"/>
                <a:gridCol w="1280795"/>
                <a:gridCol w="1459230"/>
                <a:gridCol w="1232535"/>
                <a:gridCol w="1104265"/>
              </a:tblGrid>
              <a:tr h="711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sym typeface="+mn-ea"/>
                        </a:rPr>
                        <a:t>Comprehension</a:t>
                      </a:r>
                      <a:endParaRPr lang="zh-CN" altLang="en-US" sz="1400" b="1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CatBoost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ExtraTrees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KNeighborsDist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Light GBM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Neural Net FastAI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Neural Net  Torch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RandomForest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Weighted Ensemble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XGBoost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SaaaC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ATSC0Z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RotRatio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AETA_beta_ns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AETA_beta_ns_d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SssO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ATSC7Z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fr_NH1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AETA_beta_ns_d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SaaaC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AATSC1Z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AATSC1Z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AATSC0Z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nFaH Ring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ATSC0dv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AATSC0Z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SlogP_VSA11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SlogP_VSA11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AETA_beta_ns_d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RotRatio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SssNH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RotRatio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nFa Ring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ATSC2dv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fMF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AMID_N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SlogP_VSA2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AETA_beta_ns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SssNH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fMF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SlogP_VSA2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fMF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fr_Ar_N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CIC3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nFaRing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SssO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AATSC1Z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AMID_N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SlogP_VSA2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ATSC2dv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SssO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nFaH Ring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AMID_N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CIC4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SssO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SssNH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SssO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fMF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SlogP_VSA11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SaaaC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SlogP_VSA11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AXp-1d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SlogP_VSA8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CIC5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fr_NH1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SssO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ATSC2dv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SlogP_VSA11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SlogP_VSA8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EState_VSA</a:t>
                      </a:r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EState_VSA</a:t>
                      </a:r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SIC5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SaaNH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fr_NH1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SaaNH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SlogP_VSA3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qed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SaaaC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AATSC1Z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fMF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AATSC0Z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fr_NH1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AETA_beta_ns_d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SpDiam_A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fMF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 AbsEState Index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RotRatio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 AbsEState Index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AETA_beta_ns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AMID_C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SpDiam_A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SIC5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338830" y="-120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Strength</a:t>
            </a:r>
            <a:endParaRPr lang="en-US" sz="28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0890" y="5543550"/>
            <a:ext cx="25679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SaaaC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AMID_N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l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nFaH Ring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SIC5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544570" y="5543550"/>
            <a:ext cx="25679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/>
            <a:r>
              <a:rPr lang="en-US" altLang="zh-CN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AETA_beta_ns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r>
              <a:rPr lang="en-US" altLang="zh-CN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AETA_beta</a:t>
            </a:r>
            <a:endParaRPr lang="en-US" altLang="zh-CN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l"/>
            <a:r>
              <a:rPr lang="en-US" altLang="zh-CN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AATSC0Z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r>
              <a:rPr lang="en-US" altLang="zh-CN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ATSC2dv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77025" y="5543550"/>
            <a:ext cx="2567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/>
            <a:r>
              <a:rPr lang="en-US" altLang="zh-CN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Min AbsEState Index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/>
        </p:nvGraphicFramePr>
        <p:xfrm>
          <a:off x="171450" y="648335"/>
          <a:ext cx="11835765" cy="4518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585"/>
                <a:gridCol w="923925"/>
                <a:gridCol w="1149350"/>
                <a:gridCol w="1447165"/>
                <a:gridCol w="1099820"/>
                <a:gridCol w="1268095"/>
                <a:gridCol w="1280795"/>
                <a:gridCol w="1459230"/>
                <a:gridCol w="1232535"/>
                <a:gridCol w="1104265"/>
              </a:tblGrid>
              <a:tr h="7042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sym typeface="+mn-ea"/>
                        </a:rPr>
                        <a:t>Comprehension</a:t>
                      </a:r>
                      <a:endParaRPr lang="zh-CN" altLang="en-US" sz="1400" b="1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CatBoost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ExtraTrees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KNeighborsDist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Light GBM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Neural Net FastAI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Neural Net  Torch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RandomForest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Weighted Ensemble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XGBoost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SlogP_VSA8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ATS7Z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SMR_VSA4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SlogP_VSA8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ATSC6dv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TopoShape Index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SlogP_VSA8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NHOH Count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ATS6Z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SlogP_VSA8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JGI5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BCUTd-1l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fMF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TopoShape Index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Num Rotatable Bonds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EState_VSA10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SaaaC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SMR_VSA4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ATS2Z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C3SP3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NHOH Count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TopoShape Index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JGI7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EState_VSA10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SlogP_VSA8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BCUTd-1l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ATSC2dv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TopoShape Index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ATS3Z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SaaaC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TopoShape Index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EState_VSA10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ATSC6dv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BCUTd-1l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ATSC4dv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ATSC2Z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JGI7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n6ARing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ATS4Z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EState_VSA10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ATSC2Z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AATSC0Z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ATSC2Z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JGI7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C2SP3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AMID_N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SaaaC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ATS5Z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SlogP_VSA8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nAcid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SaaaC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C2SP3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SaaaC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ATSC2Z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ATS8Z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SssO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SMR_VSA4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SMR_VSA4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SMR_VSA4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SMR_VSA4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SMR_VSA4</a:t>
                      </a:r>
                      <a:endParaRPr lang="en-US" altLang="zh-CN" sz="11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C3SP3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ATS1Z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JGI7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JGI7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C3SP3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ATSC2dv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fMF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nAcid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SssO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ATS0Z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MIC1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C3SP3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ATSC4dv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nAcid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AATSC0Z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C3SP3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MIC3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IC1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ATS7dv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Num Rotatable Bonds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ATSC4dv</a:t>
                      </a:r>
                      <a:endParaRPr lang="en-US" altLang="zh-CN" sz="1100" b="1" i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Chi4n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TopoShape Index</a:t>
                      </a:r>
                      <a:endParaRPr lang="en-US" altLang="zh-CN" sz="1100" b="1" i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C3SP3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AMID_N</a:t>
                      </a:r>
                      <a:endParaRPr lang="en-US" altLang="zh-CN" sz="11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338830" y="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Modulus</a:t>
            </a:r>
            <a:endParaRPr lang="en-US" sz="28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0890" y="5543550"/>
            <a:ext cx="25679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SaaaC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l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NHOH Count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AMID_N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Num Rotatable Bonds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808845" y="5543550"/>
            <a:ext cx="1867535" cy="368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/>
            <a:r>
              <a:rPr lang="en-US" altLang="zh-CN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SlogP_VSA8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44570" y="5543550"/>
            <a:ext cx="2567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/>
            <a:r>
              <a:rPr lang="en-US" altLang="zh-CN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ATSC4dv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77025" y="5543550"/>
            <a:ext cx="2567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/>
            <a:r>
              <a:rPr lang="en-US" altLang="zh-CN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JGI7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86*393"/>
  <p:tag name="TABLE_ENDDRAG_RECT" val="33*67*886*393"/>
</p:tagLst>
</file>

<file path=ppt/tags/tag2.xml><?xml version="1.0" encoding="utf-8"?>
<p:tagLst xmlns:p="http://schemas.openxmlformats.org/presentationml/2006/main">
  <p:tag name="COMMONDATA" val="eyJoZGlkIjoiNDk5ZTg0NGMwMTIwMmYwNjVlY2U1NTI2OWEwYzdjMjk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2754</Words>
  <Application>WPS 演示</Application>
  <PresentationFormat>宽屏</PresentationFormat>
  <Paragraphs>713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Times New Roman</vt:lpstr>
      <vt:lpstr>微软雅黑</vt:lpstr>
      <vt:lpstr>Arial Unicode MS</vt:lpstr>
      <vt:lpstr>等线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572700351@qq.com</dc:creator>
  <cp:lastModifiedBy>更星</cp:lastModifiedBy>
  <cp:revision>1783</cp:revision>
  <dcterms:created xsi:type="dcterms:W3CDTF">2022-06-24T02:15:00Z</dcterms:created>
  <dcterms:modified xsi:type="dcterms:W3CDTF">2026-02-12T08:15:55Z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36B86A719F5942178DBAB9242EB230E2_12</vt:lpwstr>
  </property>
  <property fmtid="{D5CDD505-2E9C-101B-9397-08002B2CF9AE}" pid="3" name="KSOProductBuildVer">
    <vt:lpwstr>2052-12.1.0.25225</vt:lpwstr>
  </property>
</Properties>
</file>